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106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as tirpude" userId="a873ba3c8388628a" providerId="LiveId" clId="{F8D86D05-56B2-4656-8768-E7FBD5524CC2}"/>
    <pc:docChg chg="modSld">
      <pc:chgData name="abhas tirpude" userId="a873ba3c8388628a" providerId="LiveId" clId="{F8D86D05-56B2-4656-8768-E7FBD5524CC2}" dt="2026-03-09T14:04:43.291" v="1" actId="113"/>
      <pc:docMkLst>
        <pc:docMk/>
      </pc:docMkLst>
      <pc:sldChg chg="modSp mod">
        <pc:chgData name="abhas tirpude" userId="a873ba3c8388628a" providerId="LiveId" clId="{F8D86D05-56B2-4656-8768-E7FBD5524CC2}" dt="2026-03-09T14:04:43.291" v="1" actId="113"/>
        <pc:sldMkLst>
          <pc:docMk/>
          <pc:sldMk cId="1161947812" sldId="257"/>
        </pc:sldMkLst>
        <pc:spChg chg="mod">
          <ac:chgData name="abhas tirpude" userId="a873ba3c8388628a" providerId="LiveId" clId="{F8D86D05-56B2-4656-8768-E7FBD5524CC2}" dt="2026-03-09T14:04:43.291" v="1" actId="113"/>
          <ac:spMkLst>
            <pc:docMk/>
            <pc:sldMk cId="1161947812" sldId="257"/>
            <ac:spMk id="3" creationId="{13489231-7DAA-F752-EDFB-966BDAC93CE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9AA0A-55F8-EAA7-B4D6-3D1A12080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D8F7B-2002-4EC4-561B-E26258DA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89B00-EA0F-89B1-3D2C-853A65AB2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E109-CFEC-477A-85E3-B9771F955378}" type="datetimeFigureOut">
              <a:rPr lang="en-IN" smtClean="0"/>
              <a:t>09-03-26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0A59E-9C7F-D45D-3A79-DEDCB11C9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E2A73-CA0D-1D5C-5FE2-035C93ADB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DED6-AF11-452C-BC49-CAFD2899E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804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78CC7-8100-1324-F39C-549D93E75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23814-E9F4-95AC-E335-DE92EE296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BA2FC-A2BE-3C44-DAC2-88CFCEAC9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E109-CFEC-477A-85E3-B9771F955378}" type="datetimeFigureOut">
              <a:rPr lang="en-IN" smtClean="0"/>
              <a:t>09-03-26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C64B7-3829-D7DF-95FB-163B41463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73E1-7B86-272C-9209-96C48E9C1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DED6-AF11-452C-BC49-CAFD2899E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441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5AAE8-9440-4813-F1FF-13CDA6791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7EA81-E7FD-8741-3CBA-488159713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CC754-13EE-47A9-CFE8-3D485D674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E109-CFEC-477A-85E3-B9771F955378}" type="datetimeFigureOut">
              <a:rPr lang="en-IN" smtClean="0"/>
              <a:t>09-03-26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B4B72-0598-1A04-14BC-E3DDEE932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BE6EE-7562-B5E6-2C89-885C5D82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DED6-AF11-452C-BC49-CAFD2899E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150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0495E-B3C3-93DA-D61F-C8EB7BBEF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E6B18-6651-6E3C-80FE-3677723928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70E910-DBD6-4A10-8D7B-DDAFD0DCD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314AC6-7971-13AF-58DC-C78B6A5B0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E109-CFEC-477A-85E3-B9771F955378}" type="datetimeFigureOut">
              <a:rPr lang="en-IN" smtClean="0"/>
              <a:t>09-03-26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8A1EA-B560-3003-0E39-6E2C3CA58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67EFC-E7EF-CDB1-5F55-A4864BBEE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DED6-AF11-452C-BC49-CAFD2899E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620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91E03-DA9F-EA0D-D8D4-0FACBB3B2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BD3EC-15D0-196D-7A22-9FDD0BCED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BF315-216C-7892-DBF0-74D4E4799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5A476-CB97-44DA-63C6-843ED5BC1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045D4D-40A2-4ADF-7BCA-EB88A7DBB5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45DADF-2E4B-12AA-5659-E14490D74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E109-CFEC-477A-85E3-B9771F955378}" type="datetimeFigureOut">
              <a:rPr lang="en-IN" smtClean="0"/>
              <a:t>09-03-26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90CD4F-952D-0C3E-844A-C73D4D21D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7D77A-DA62-6D41-1E44-B8AB794FB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DED6-AF11-452C-BC49-CAFD2899E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6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ED507-68BD-2D48-BD88-76A9A05D0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22CDD-D1E0-D689-12F2-C8DD4D8D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E109-CFEC-477A-85E3-B9771F955378}" type="datetimeFigureOut">
              <a:rPr lang="en-IN" smtClean="0"/>
              <a:t>09-03-26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BCA27-8345-A168-6C29-6AAD63D6E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F92DB-A0F6-14E6-C2E8-CC6D05E0C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DED6-AF11-452C-BC49-CAFD2899E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39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2A9A2F-7F27-21EF-EF43-5AE119637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E109-CFEC-477A-85E3-B9771F955378}" type="datetimeFigureOut">
              <a:rPr lang="en-IN" smtClean="0"/>
              <a:t>09-03-26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9EBF3D-AAE6-7CBD-8715-1A5A7E8C4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F3884-1DC2-A38D-2F55-07D29A5A2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DED6-AF11-452C-BC49-CAFD2899E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396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A8A5B-484B-DD05-6C20-BE33A5BD8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1D620-CC94-17B2-F057-FFC59930E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7C0B3-F186-1123-F73D-63F7EF39AA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CB521-78D9-504C-16A8-CEBBF9F75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E109-CFEC-477A-85E3-B9771F955378}" type="datetimeFigureOut">
              <a:rPr lang="en-IN" smtClean="0"/>
              <a:t>09-03-26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966735-1977-4FFE-55FE-AB3956AFD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C97F3-1C61-8D87-6B04-0A3FB1C88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DED6-AF11-452C-BC49-CAFD2899E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149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383DE-4717-287E-63CF-AAA9E3F1A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3E445F-D813-1DE1-9C92-9A624ED531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AA3D8-093A-35F0-8C3F-0EE58858D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8A92D-08BE-B7E0-F547-7D8E0866C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E109-CFEC-477A-85E3-B9771F955378}" type="datetimeFigureOut">
              <a:rPr lang="en-IN" smtClean="0"/>
              <a:t>09-03-26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F0A2C-8163-DB17-FB8E-DD4545D99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FB4C5-F2BE-D401-B4CA-8D5A7648B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DED6-AF11-452C-BC49-CAFD2899E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340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4036E-BC08-09A8-F6AF-C689E225F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154A27-5A73-730C-2DC2-02CCDB799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93DFA-4EAD-F8A9-AB5E-87D6975C3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E109-CFEC-477A-85E3-B9771F955378}" type="datetimeFigureOut">
              <a:rPr lang="en-IN" smtClean="0"/>
              <a:t>09-03-26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67BAC-E08F-F904-5DBD-C919C86EA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0E61E-B20C-D1E1-8AB1-82C3DFFA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DED6-AF11-452C-BC49-CAFD2899E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677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0117DC-C5C9-3F42-B06E-E24D4C72C4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E54A85-920B-0F5A-B969-B202275C6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EDD44-648E-1EFD-5900-9317AC5E8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E109-CFEC-477A-85E3-B9771F955378}" type="datetimeFigureOut">
              <a:rPr lang="en-IN" smtClean="0"/>
              <a:t>09-03-26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53973-0160-E16D-CAF0-28A6B0F4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0AAAC-7191-AB92-22FF-7D0E01A77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DED6-AF11-452C-BC49-CAFD2899E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034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0606E0-DB1B-B9BA-9162-E365BFE55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91E88-6842-9DB4-BB68-DBACE19AC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B87A9-07BD-8FF0-F7C5-50AE1E3971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1E109-CFEC-477A-85E3-B9771F955378}" type="datetimeFigureOut">
              <a:rPr lang="en-IN" smtClean="0"/>
              <a:t>09-03-26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718EC-0A2D-93CD-4C1B-5B386CC2F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A8BC9-04F4-5407-5CAB-BB2201182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ADED6-AF11-452C-BC49-CAFD2899E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225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ABC4F8-2FFE-C8FF-3D73-FAF8E5E0AA99}"/>
              </a:ext>
            </a:extLst>
          </p:cNvPr>
          <p:cNvSpPr txBox="1"/>
          <p:nvPr/>
        </p:nvSpPr>
        <p:spPr>
          <a:xfrm>
            <a:off x="508000" y="2844225"/>
            <a:ext cx="1157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CUSTOMER REPAYMENT BEHAVIOUR ANALYSIS</a:t>
            </a:r>
            <a:endParaRPr lang="en-IN" sz="3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245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D0927DD-2ADD-AFC6-AD0E-DD89093646D2}"/>
              </a:ext>
            </a:extLst>
          </p:cNvPr>
          <p:cNvSpPr txBox="1"/>
          <p:nvPr/>
        </p:nvSpPr>
        <p:spPr>
          <a:xfrm>
            <a:off x="172720" y="305068"/>
            <a:ext cx="6096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Key Insights from Credit Risk Distribution :</a:t>
            </a:r>
          </a:p>
          <a:p>
            <a:endParaRPr lang="en-US" sz="1600" dirty="0"/>
          </a:p>
          <a:p>
            <a:r>
              <a:rPr lang="en-US" sz="1600" dirty="0"/>
              <a:t>Highly Imbalanced Distribution:</a:t>
            </a:r>
          </a:p>
          <a:p>
            <a:r>
              <a:rPr lang="en-US" sz="1600" dirty="0"/>
              <a:t>The bar chart shows a highly imbalanced dataset where the majority of records belong to CR_STATUS = 0, while very few observations fall under CR_STATUS = 1.</a:t>
            </a:r>
          </a:p>
          <a:p>
            <a:endParaRPr lang="en-US" sz="1600" dirty="0"/>
          </a:p>
          <a:p>
            <a:r>
              <a:rPr lang="en-US" sz="1600" dirty="0"/>
              <a:t>Dominance of Non-Risk Cases:</a:t>
            </a:r>
          </a:p>
          <a:p>
            <a:r>
              <a:rPr lang="en-US" sz="1600" dirty="0"/>
              <a:t>Most individuals in the dataset are categorized as non-credit-risk customers, indicating that default or risky credit cases are relatively rare.</a:t>
            </a:r>
          </a:p>
          <a:p>
            <a:endParaRPr lang="en-US" sz="1600" dirty="0"/>
          </a:p>
          <a:p>
            <a:r>
              <a:rPr lang="en-US" sz="1600" dirty="0"/>
              <a:t>Low Representation of Risky Customers:</a:t>
            </a:r>
          </a:p>
          <a:p>
            <a:r>
              <a:rPr lang="en-US" sz="1600" dirty="0"/>
              <a:t>The number of records with CR_STATUS = 1 is extremely small compared to CR_STATUS = 0, suggesting that risky borrowers form only a tiny portion of the dataset.</a:t>
            </a:r>
          </a:p>
          <a:p>
            <a:endParaRPr lang="en-US" sz="1600" dirty="0"/>
          </a:p>
          <a:p>
            <a:r>
              <a:rPr lang="en-US" sz="1600" dirty="0"/>
              <a:t>Potential Class Imbalance Issue:</a:t>
            </a:r>
          </a:p>
          <a:p>
            <a:r>
              <a:rPr lang="en-US" sz="1600" dirty="0"/>
              <a:t>Such a strong imbalance between classes may cause machine learning models to become biased toward predicting the majority class.</a:t>
            </a:r>
          </a:p>
          <a:p>
            <a:endParaRPr lang="en-US" sz="1600" dirty="0"/>
          </a:p>
          <a:p>
            <a:r>
              <a:rPr lang="en-US" sz="1600" dirty="0"/>
              <a:t>Impact on Model Training:</a:t>
            </a:r>
          </a:p>
          <a:p>
            <a:r>
              <a:rPr lang="en-US" sz="1600" dirty="0"/>
              <a:t>To build an effective predictive model, techniques like resampling, class weighting, or SMOTE may be required to handle the imbalance and improve prediction of risky cases.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626F82-4767-DBD4-F9A1-3A34617711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3" t="367"/>
          <a:stretch>
            <a:fillRect/>
          </a:stretch>
        </p:blipFill>
        <p:spPr>
          <a:xfrm>
            <a:off x="6649270" y="1899920"/>
            <a:ext cx="507537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565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489231-7DAA-F752-EDFB-966BDAC93CE9}"/>
              </a:ext>
            </a:extLst>
          </p:cNvPr>
          <p:cNvSpPr txBox="1"/>
          <p:nvPr/>
        </p:nvSpPr>
        <p:spPr>
          <a:xfrm>
            <a:off x="345440" y="325120"/>
            <a:ext cx="5750560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Key Insights from STATUS Distribution :</a:t>
            </a:r>
          </a:p>
          <a:p>
            <a:endParaRPr lang="en-US" sz="1600" dirty="0"/>
          </a:p>
          <a:p>
            <a:r>
              <a:rPr lang="en-US" sz="1600" dirty="0"/>
              <a:t>Dominance of Category ‘C’:</a:t>
            </a:r>
          </a:p>
          <a:p>
            <a:r>
              <a:rPr lang="en-US" sz="1600" dirty="0"/>
              <a:t>The chart shows that status ‘C’ has the highest number of records, indicating that most customers fall under this category compared to other status values.</a:t>
            </a:r>
          </a:p>
          <a:p>
            <a:endParaRPr lang="en-US" sz="1600" dirty="0"/>
          </a:p>
          <a:p>
            <a:r>
              <a:rPr lang="en-US" sz="1600" dirty="0"/>
              <a:t>Significant Presence of Status ‘0’:</a:t>
            </a:r>
          </a:p>
          <a:p>
            <a:r>
              <a:rPr lang="en-US" sz="1600" dirty="0"/>
              <a:t>The ‘0’ status category also has a large number of observations, making it the second most frequent category in the dataset.</a:t>
            </a:r>
          </a:p>
          <a:p>
            <a:endParaRPr lang="en-US" sz="1600" dirty="0"/>
          </a:p>
          <a:p>
            <a:r>
              <a:rPr lang="en-US" sz="1600" dirty="0"/>
              <a:t>Moderate Representation of Status ‘X’:</a:t>
            </a:r>
          </a:p>
          <a:p>
            <a:r>
              <a:rPr lang="en-US" sz="1600" dirty="0"/>
              <a:t>The ‘X’ category has a noticeable but smaller count compared to ‘C’ and ‘0’, suggesting a moderate presence in the dataset.</a:t>
            </a:r>
          </a:p>
          <a:p>
            <a:endParaRPr lang="en-US" sz="1600" dirty="0"/>
          </a:p>
          <a:p>
            <a:r>
              <a:rPr lang="en-US" sz="1600" dirty="0"/>
              <a:t>Rare Occurrence of Numeric Status Values:</a:t>
            </a:r>
          </a:p>
          <a:p>
            <a:r>
              <a:rPr lang="en-US" sz="1600" dirty="0"/>
              <a:t>Status values such as 1, 2, 3, 4, and 5 appear very rarely, indicating that these categories represent only a small portion of the data.</a:t>
            </a:r>
          </a:p>
          <a:p>
            <a:endParaRPr lang="en-US" sz="1600" dirty="0"/>
          </a:p>
          <a:p>
            <a:r>
              <a:rPr lang="en-US" sz="1600" dirty="0"/>
              <a:t>Impact on Analysis:</a:t>
            </a:r>
          </a:p>
          <a:p>
            <a:r>
              <a:rPr lang="en-US" sz="1600" dirty="0"/>
              <a:t>Since a few categories dominate the dataset, models or analysis may be biased toward major status groups, and rare categories might require special handling or grouping during preprocessing.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E0C269-6E06-05D9-BA5F-301B0A605C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7"/>
          <a:stretch>
            <a:fillRect/>
          </a:stretch>
        </p:blipFill>
        <p:spPr>
          <a:xfrm>
            <a:off x="6073336" y="1624003"/>
            <a:ext cx="5773224" cy="317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947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181E40-76A0-F3CB-AB65-C885AA8081E9}"/>
              </a:ext>
            </a:extLst>
          </p:cNvPr>
          <p:cNvSpPr txBox="1"/>
          <p:nvPr/>
        </p:nvSpPr>
        <p:spPr>
          <a:xfrm>
            <a:off x="233680" y="223520"/>
            <a:ext cx="6563360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Key Insights from Annual Income Distribution :</a:t>
            </a:r>
          </a:p>
          <a:p>
            <a:endParaRPr lang="en-US" dirty="0"/>
          </a:p>
          <a:p>
            <a:r>
              <a:rPr lang="en-US" sz="1600" dirty="0"/>
              <a:t>Right-Skewed Distribution:</a:t>
            </a:r>
          </a:p>
          <a:p>
            <a:r>
              <a:rPr lang="en-US" sz="1600" dirty="0"/>
              <a:t>The histogram shows a positively skewed (right-skewed) distribution, where most individuals fall in the lower income range while a small number earn significantly higher incomes.</a:t>
            </a:r>
          </a:p>
          <a:p>
            <a:endParaRPr lang="en-US" sz="1600" dirty="0"/>
          </a:p>
          <a:p>
            <a:r>
              <a:rPr lang="en-US" sz="1600" dirty="0"/>
              <a:t>Concentration of Middle-Low Income Groups:</a:t>
            </a:r>
          </a:p>
          <a:p>
            <a:r>
              <a:rPr lang="en-US" sz="1600" dirty="0"/>
              <a:t>A large portion of the dataset is concentrated roughly between 100,000 and 250,000 income range, indicating that most customers belong to middle or lower-middle income groups.</a:t>
            </a:r>
          </a:p>
          <a:p>
            <a:endParaRPr lang="en-US" sz="1600" dirty="0"/>
          </a:p>
          <a:p>
            <a:r>
              <a:rPr lang="en-US" sz="1600" dirty="0"/>
              <a:t>Presence of High-Income Outliers:</a:t>
            </a:r>
          </a:p>
          <a:p>
            <a:r>
              <a:rPr lang="en-US" sz="1600" dirty="0"/>
              <a:t>The long tail extending toward higher income values (above 500,000 and up to around 1.5 million) suggests the presence of high-income outliers in the dataset.</a:t>
            </a:r>
          </a:p>
          <a:p>
            <a:endParaRPr lang="en-US" sz="1600" dirty="0"/>
          </a:p>
          <a:p>
            <a:r>
              <a:rPr lang="en-US" sz="1600" dirty="0"/>
              <a:t>Declining Frequency with Increasing Income:</a:t>
            </a:r>
          </a:p>
          <a:p>
            <a:r>
              <a:rPr lang="en-US" sz="1600" dirty="0"/>
              <a:t>As income increases, the number of individuals in those ranges gradually decreases, showing that higher income groups are relatively rare.</a:t>
            </a:r>
          </a:p>
          <a:p>
            <a:endParaRPr lang="en-US" sz="1600" dirty="0"/>
          </a:p>
          <a:p>
            <a:r>
              <a:rPr lang="en-US" sz="1600" dirty="0"/>
              <a:t>Impact on Analysis:</a:t>
            </a:r>
          </a:p>
          <a:p>
            <a:r>
              <a:rPr lang="en-US" sz="1600" dirty="0"/>
              <a:t>Due to skewness and extreme values, statistical measures like mean income may be influenced by high-income outliers, so techniques like log transformation or outlier handling may be useful for better modeling.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D117CC-7AA0-90A0-C841-9DA37CF8B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040" y="1134811"/>
            <a:ext cx="5394960" cy="324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661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A681EB-8432-6EB1-6E01-40ABE445A181}"/>
              </a:ext>
            </a:extLst>
          </p:cNvPr>
          <p:cNvSpPr txBox="1"/>
          <p:nvPr/>
        </p:nvSpPr>
        <p:spPr>
          <a:xfrm>
            <a:off x="294640" y="193040"/>
            <a:ext cx="5709920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Key Insights from Age Distribution :</a:t>
            </a:r>
          </a:p>
          <a:p>
            <a:pPr algn="ctr"/>
            <a:endParaRPr lang="en-US" b="1" dirty="0"/>
          </a:p>
          <a:p>
            <a:r>
              <a:rPr lang="en-US" sz="1600" dirty="0"/>
              <a:t>Presence of Invalid or Zero Age Values:</a:t>
            </a:r>
          </a:p>
          <a:p>
            <a:r>
              <a:rPr lang="en-US" sz="1600" dirty="0"/>
              <a:t>The histogram shows a large spike at age 0, indicating the presence of invalid or missing values that may have been recorded as zero in the dataset.</a:t>
            </a:r>
          </a:p>
          <a:p>
            <a:endParaRPr lang="en-US" sz="1600" dirty="0"/>
          </a:p>
          <a:p>
            <a:r>
              <a:rPr lang="en-US" sz="1600" dirty="0"/>
              <a:t>Majority of Customers are Adults:</a:t>
            </a:r>
          </a:p>
          <a:p>
            <a:r>
              <a:rPr lang="en-US" sz="1600" dirty="0"/>
              <a:t>Most individuals fall within the age range of approximately 25 to 60 years, suggesting that the dataset mainly consists of working-age adults.</a:t>
            </a:r>
          </a:p>
          <a:p>
            <a:endParaRPr lang="en-US" sz="1600" dirty="0"/>
          </a:p>
          <a:p>
            <a:r>
              <a:rPr lang="en-US" sz="1600" dirty="0"/>
              <a:t>Peak Concentration in Middle Age Group:</a:t>
            </a:r>
          </a:p>
          <a:p>
            <a:r>
              <a:rPr lang="en-US" sz="1600" dirty="0"/>
              <a:t>The highest frequency of records appears around the 30–45 age range, indicating that middle-aged individuals form the largest segment of the dataset.</a:t>
            </a:r>
          </a:p>
          <a:p>
            <a:endParaRPr lang="en-US" sz="1600" dirty="0"/>
          </a:p>
          <a:p>
            <a:r>
              <a:rPr lang="en-US" sz="1600" dirty="0"/>
              <a:t>Lower Representation of Younger and Older Groups:</a:t>
            </a:r>
          </a:p>
          <a:p>
            <a:r>
              <a:rPr lang="en-US" sz="1600" dirty="0"/>
              <a:t>Very few records exist for ages below 25 and above 65, showing that younger and senior populations are less represented.</a:t>
            </a:r>
          </a:p>
          <a:p>
            <a:endParaRPr lang="en-US" sz="1600" dirty="0"/>
          </a:p>
          <a:p>
            <a:r>
              <a:rPr lang="en-US" sz="1600" dirty="0"/>
              <a:t>Impact on Analysis:</a:t>
            </a:r>
          </a:p>
          <a:p>
            <a:r>
              <a:rPr lang="en-US" sz="1600" dirty="0"/>
              <a:t>The presence of age value 0 may distort statistical analysis, so data cleaning or removing invalid entries may be necessary before performing modeling or further analysis.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5678AD-F4FF-0DCD-9E18-EF70DF3E7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720" y="929989"/>
            <a:ext cx="5520971" cy="360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18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46924C-B48D-FC5F-75A0-9DCD21020A86}"/>
              </a:ext>
            </a:extLst>
          </p:cNvPr>
          <p:cNvSpPr txBox="1"/>
          <p:nvPr/>
        </p:nvSpPr>
        <p:spPr>
          <a:xfrm>
            <a:off x="264160" y="203200"/>
            <a:ext cx="610616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Key Insights from Annual Income Distribution :</a:t>
            </a:r>
          </a:p>
          <a:p>
            <a:endParaRPr lang="en-US" sz="1600" dirty="0"/>
          </a:p>
          <a:p>
            <a:r>
              <a:rPr lang="en-US" sz="1600" dirty="0"/>
              <a:t>Strong Concentration at Lower Income Levels:</a:t>
            </a:r>
          </a:p>
          <a:p>
            <a:r>
              <a:rPr lang="en-US" sz="1600" dirty="0"/>
              <a:t>The histogram shows that the majority of individuals are concentrated in the lower income range, indicating that most customers in the dataset earn relatively modest incomes.</a:t>
            </a:r>
          </a:p>
          <a:p>
            <a:endParaRPr lang="en-US" sz="1600" dirty="0"/>
          </a:p>
          <a:p>
            <a:r>
              <a:rPr lang="en-US" sz="1600" dirty="0"/>
              <a:t>Extreme Income Outlier Present:</a:t>
            </a:r>
          </a:p>
          <a:p>
            <a:r>
              <a:rPr lang="en-US" sz="1600" dirty="0"/>
              <a:t>There is a large spike around the very high income value (around 350,000+), suggesting the presence of extreme outliers that are far from the typical income range.</a:t>
            </a:r>
          </a:p>
          <a:p>
            <a:endParaRPr lang="en-US" sz="1600" dirty="0"/>
          </a:p>
          <a:p>
            <a:r>
              <a:rPr lang="en-US" sz="1600" dirty="0"/>
              <a:t>Highly Skewed Distribution:</a:t>
            </a:r>
          </a:p>
          <a:p>
            <a:r>
              <a:rPr lang="en-US" sz="1600" dirty="0"/>
              <a:t>The distribution appears highly right-skewed, where most observations lie in the lower range while only a few exist at extremely high income levels.</a:t>
            </a:r>
          </a:p>
          <a:p>
            <a:endParaRPr lang="en-US" sz="1600" dirty="0"/>
          </a:p>
          <a:p>
            <a:r>
              <a:rPr lang="en-US" sz="1600" dirty="0"/>
              <a:t>Possible Data Entry or Scaling Issue:</a:t>
            </a:r>
          </a:p>
          <a:p>
            <a:r>
              <a:rPr lang="en-US" sz="1600" dirty="0"/>
              <a:t>The isolated cluster of very high income values may indicate data inconsistencies, scaling issues, or incorrectly recorded income values.</a:t>
            </a:r>
          </a:p>
          <a:p>
            <a:endParaRPr lang="en-US" sz="1600" dirty="0"/>
          </a:p>
          <a:p>
            <a:r>
              <a:rPr lang="en-US" sz="1600" dirty="0"/>
              <a:t>Impact on Analysis:</a:t>
            </a:r>
          </a:p>
          <a:p>
            <a:r>
              <a:rPr lang="en-US" sz="1600" dirty="0"/>
              <a:t>Such extreme outliers can significantly affect statistical measures like the mean and variance, so outlier detection or normalization techniques may be necessary before building predictive models.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FD9B59-5623-337D-03F9-999016B81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320" y="833120"/>
            <a:ext cx="5114368" cy="389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995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15CBD9-7EEA-3049-7EB6-E105FAA6F0D0}"/>
              </a:ext>
            </a:extLst>
          </p:cNvPr>
          <p:cNvSpPr txBox="1"/>
          <p:nvPr/>
        </p:nvSpPr>
        <p:spPr>
          <a:xfrm>
            <a:off x="294640" y="137448"/>
            <a:ext cx="565912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Key Insights from Family Member Count Distribution :</a:t>
            </a:r>
          </a:p>
          <a:p>
            <a:endParaRPr lang="en-US" sz="1600" dirty="0"/>
          </a:p>
          <a:p>
            <a:r>
              <a:rPr lang="en-US" sz="1600" dirty="0"/>
              <a:t>Dominance of Small Families:</a:t>
            </a:r>
          </a:p>
          <a:p>
            <a:r>
              <a:rPr lang="en-US" sz="1600" dirty="0"/>
              <a:t>The distribution shows that the majority of households consist of 2 family members, making it the most common family size in the dataset.</a:t>
            </a:r>
          </a:p>
          <a:p>
            <a:endParaRPr lang="en-US" sz="1600" dirty="0"/>
          </a:p>
          <a:p>
            <a:r>
              <a:rPr lang="en-US" sz="1600" dirty="0"/>
              <a:t>Moderate Presence of Medium-Sized Families:</a:t>
            </a:r>
          </a:p>
          <a:p>
            <a:r>
              <a:rPr lang="en-US" sz="1600" dirty="0"/>
              <a:t>Families with 3 to 4 members also appear frequently, indicating that medium-sized households form a significant portion of the data.</a:t>
            </a:r>
          </a:p>
          <a:p>
            <a:endParaRPr lang="en-US" sz="1600" dirty="0"/>
          </a:p>
          <a:p>
            <a:r>
              <a:rPr lang="en-US" sz="1600" dirty="0"/>
              <a:t>Lower Representation of Large Families:</a:t>
            </a:r>
          </a:p>
          <a:p>
            <a:r>
              <a:rPr lang="en-US" sz="1600" dirty="0"/>
              <a:t>Family sizes above 5 members are relatively rare, showing that large households are uncommon in the dataset.</a:t>
            </a:r>
          </a:p>
          <a:p>
            <a:endParaRPr lang="en-US" sz="1600" dirty="0"/>
          </a:p>
          <a:p>
            <a:r>
              <a:rPr lang="en-US" sz="1600" dirty="0"/>
              <a:t>Presence of Extreme Outliers:</a:t>
            </a:r>
          </a:p>
          <a:p>
            <a:r>
              <a:rPr lang="en-US" sz="1600" dirty="0"/>
              <a:t>A few records show unusually high family member counts such as 9, 15, and 20, which may represent data entry errors or exceptional cases.</a:t>
            </a:r>
          </a:p>
          <a:p>
            <a:endParaRPr lang="en-US" sz="1600" dirty="0"/>
          </a:p>
          <a:p>
            <a:r>
              <a:rPr lang="en-US" sz="1600" dirty="0"/>
              <a:t>Impact on Analysis:</a:t>
            </a:r>
          </a:p>
          <a:p>
            <a:r>
              <a:rPr lang="en-US" sz="1600" dirty="0"/>
              <a:t>Since most values fall between 1 and 4 family members, extreme values may need to be reviewed or capped to prevent them from affecting statistical analysis or predictive models.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D0247B-8F18-ED1C-305F-E792470F2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95381"/>
            <a:ext cx="6096000" cy="419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375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CF5974-F5A0-AD5E-E5F1-43D21F9844D6}"/>
              </a:ext>
            </a:extLst>
          </p:cNvPr>
          <p:cNvSpPr txBox="1"/>
          <p:nvPr/>
        </p:nvSpPr>
        <p:spPr>
          <a:xfrm>
            <a:off x="182880" y="304799"/>
            <a:ext cx="631952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Key Insights from Income vs Credit Risk :</a:t>
            </a:r>
          </a:p>
          <a:p>
            <a:pPr algn="ctr"/>
            <a:endParaRPr lang="en-US" sz="1600" b="1" dirty="0"/>
          </a:p>
          <a:p>
            <a:r>
              <a:rPr lang="en-US" sz="1600" dirty="0"/>
              <a:t>Similar Median Income Across Risk Groups:</a:t>
            </a:r>
          </a:p>
          <a:p>
            <a:r>
              <a:rPr lang="en-US" sz="1600" dirty="0"/>
              <a:t>The boxplot shows that the median income for both CR_STATUS = 0 and CR_STATUS = 1 is quite similar, indicating that income alone may not strongly differentiate between low-risk and high-risk customers.</a:t>
            </a:r>
          </a:p>
          <a:p>
            <a:endParaRPr lang="en-US" sz="1600" dirty="0"/>
          </a:p>
          <a:p>
            <a:r>
              <a:rPr lang="en-US" sz="1600" dirty="0"/>
              <a:t>Slightly Wider Income Spread in Non-Risk Group:</a:t>
            </a:r>
          </a:p>
          <a:p>
            <a:r>
              <a:rPr lang="en-US" sz="1600" dirty="0"/>
              <a:t>Customers with CR_STATUS = 0 (non-risk) show a slightly wider spread of income values, suggesting greater income variability among safer borrowers.</a:t>
            </a:r>
          </a:p>
          <a:p>
            <a:endParaRPr lang="en-US" sz="1600" dirty="0"/>
          </a:p>
          <a:p>
            <a:r>
              <a:rPr lang="en-US" sz="1600" dirty="0"/>
              <a:t>Presence of High-Income Outliers:</a:t>
            </a:r>
          </a:p>
          <a:p>
            <a:r>
              <a:rPr lang="en-US" sz="1600" dirty="0"/>
              <a:t>Both credit risk groups contain several high-income outliers, with some incomes exceeding 1 million, indicating that extreme income values exist in the dataset.</a:t>
            </a:r>
          </a:p>
          <a:p>
            <a:endParaRPr lang="en-US" sz="1600" dirty="0"/>
          </a:p>
          <a:p>
            <a:r>
              <a:rPr lang="en-US" sz="1600" dirty="0"/>
              <a:t>Overlap Between Risk and Non-Risk Groups:</a:t>
            </a:r>
          </a:p>
          <a:p>
            <a:r>
              <a:rPr lang="en-US" sz="1600" dirty="0"/>
              <a:t>There is significant overlap in the income ranges of both groups, meaning both risky and non-risky customers can fall within similar income brackets.</a:t>
            </a:r>
          </a:p>
          <a:p>
            <a:endParaRPr lang="en-US" sz="1600" dirty="0"/>
          </a:p>
          <a:p>
            <a:r>
              <a:rPr lang="en-US" sz="1600" dirty="0"/>
              <a:t>Impact on Analysis:</a:t>
            </a:r>
          </a:p>
          <a:p>
            <a:r>
              <a:rPr lang="en-US" sz="1600" dirty="0"/>
              <a:t>Since income distributions overlap heavily between the two groups, income alone may not be a strong predictor of credit risk, and additional features may be required for accurate credit risk modeling.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72DC73-9A5F-F584-B29B-AA52954D4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037" y="863600"/>
            <a:ext cx="5230083" cy="417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161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5CA6C2-8A67-1ADA-57E9-656656437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8" y="121920"/>
            <a:ext cx="11833684" cy="642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176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888336-6BA8-DE90-159D-B1123B6D47A3}"/>
              </a:ext>
            </a:extLst>
          </p:cNvPr>
          <p:cNvSpPr txBox="1"/>
          <p:nvPr/>
        </p:nvSpPr>
        <p:spPr>
          <a:xfrm>
            <a:off x="314960" y="260430"/>
            <a:ext cx="102108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Key Insights from Correlation Heatmap :</a:t>
            </a:r>
          </a:p>
          <a:p>
            <a:endParaRPr lang="en-US" sz="1600" dirty="0"/>
          </a:p>
          <a:p>
            <a:r>
              <a:rPr lang="en-US" sz="1600" dirty="0"/>
              <a:t>Strong Negative Correlation between Age and Employment Days:</a:t>
            </a:r>
          </a:p>
          <a:p>
            <a:r>
              <a:rPr lang="en-US" sz="1600" dirty="0"/>
              <a:t>The heatmap shows a strong negative correlation (-0.61) between DAYS_BIRTH and DAYS_EMPLOYED, indicating that as age increases, the recorded employment days decrease due to the way these variables are represented.</a:t>
            </a:r>
          </a:p>
          <a:p>
            <a:endParaRPr lang="en-US" sz="1600" dirty="0"/>
          </a:p>
          <a:p>
            <a:r>
              <a:rPr lang="en-US" sz="1600" dirty="0"/>
              <a:t>Moderate Positive Relationship between Age and Number of Children:</a:t>
            </a:r>
          </a:p>
          <a:p>
            <a:r>
              <a:rPr lang="en-US" sz="1600" dirty="0"/>
              <a:t>There is a moderate positive correlation (0.36) between DAYS_BIRTH and CNT_CHILDREN, suggesting that older individuals tend to have slightly more children.</a:t>
            </a:r>
          </a:p>
          <a:p>
            <a:endParaRPr lang="en-US" sz="1600" dirty="0"/>
          </a:p>
          <a:p>
            <a:r>
              <a:rPr lang="en-US" sz="1600" dirty="0"/>
              <a:t>Weak Relationships Among Most Variables:</a:t>
            </a:r>
          </a:p>
          <a:p>
            <a:r>
              <a:rPr lang="en-US" sz="1600" dirty="0"/>
              <a:t>Most variables show very weak correlations close to zero, indicating that they are largely independent of each other.</a:t>
            </a:r>
          </a:p>
          <a:p>
            <a:endParaRPr lang="en-US" sz="1600" dirty="0"/>
          </a:p>
          <a:p>
            <a:r>
              <a:rPr lang="en-US" sz="1600" dirty="0"/>
              <a:t>Minimal Correlation with Credit Risk:</a:t>
            </a:r>
          </a:p>
          <a:p>
            <a:r>
              <a:rPr lang="en-US" sz="1600" dirty="0"/>
              <a:t>The CR_STATUS variable has almost zero correlation with other features, suggesting that these individual variables alone may not strongly explain credit risk.</a:t>
            </a:r>
          </a:p>
          <a:p>
            <a:endParaRPr lang="en-US" sz="1600" dirty="0"/>
          </a:p>
          <a:p>
            <a:r>
              <a:rPr lang="en-US" sz="1600" dirty="0"/>
              <a:t>Impact on Modeling:</a:t>
            </a:r>
          </a:p>
          <a:p>
            <a:r>
              <a:rPr lang="en-US" sz="1600" dirty="0"/>
              <a:t>Since correlations are generally low, credit risk prediction may require combining multiple features or using more complex models rather than relying on single-variable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903477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40D891-6714-806B-EAF9-4BF2D260C05A}"/>
              </a:ext>
            </a:extLst>
          </p:cNvPr>
          <p:cNvSpPr txBox="1"/>
          <p:nvPr/>
        </p:nvSpPr>
        <p:spPr>
          <a:xfrm>
            <a:off x="142240" y="101600"/>
            <a:ext cx="708152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Key Insights from Credit Risk by Income Type :</a:t>
            </a:r>
          </a:p>
          <a:p>
            <a:endParaRPr lang="en-US" sz="1600" dirty="0"/>
          </a:p>
          <a:p>
            <a:r>
              <a:rPr lang="en-US" sz="1600" dirty="0"/>
              <a:t>Dominance of Working Professionals:</a:t>
            </a:r>
          </a:p>
          <a:p>
            <a:r>
              <a:rPr lang="en-US" sz="1600" dirty="0"/>
              <a:t>The chart shows that the majority of applicants belong to the “Working” income type, indicating that most individuals in the dataset are salaried employees.</a:t>
            </a:r>
          </a:p>
          <a:p>
            <a:endParaRPr lang="en-US" sz="1600" dirty="0"/>
          </a:p>
          <a:p>
            <a:r>
              <a:rPr lang="en-US" sz="1600" dirty="0"/>
              <a:t>Significant Representation of Commercial Associates:</a:t>
            </a:r>
          </a:p>
          <a:p>
            <a:r>
              <a:rPr lang="en-US" sz="1600" dirty="0"/>
              <a:t>The “Commercial associate” category is the second largest group, suggesting a considerable number of individuals engaged in business or commercial activities.</a:t>
            </a:r>
          </a:p>
          <a:p>
            <a:endParaRPr lang="en-US" sz="1600" dirty="0"/>
          </a:p>
          <a:p>
            <a:r>
              <a:rPr lang="en-US" sz="1600" dirty="0"/>
              <a:t>Moderate Presence of Pensioners:</a:t>
            </a:r>
          </a:p>
          <a:p>
            <a:r>
              <a:rPr lang="en-US" sz="1600" dirty="0"/>
              <a:t>The “Pensioner” category also forms a noticeable portion of the dataset, representing retired individuals who still participate in credit-related activities.</a:t>
            </a:r>
          </a:p>
          <a:p>
            <a:endParaRPr lang="en-US" sz="1600" dirty="0"/>
          </a:p>
          <a:p>
            <a:r>
              <a:rPr lang="en-US" sz="1600" dirty="0"/>
              <a:t>Lower Representation of State Servants:</a:t>
            </a:r>
          </a:p>
          <a:p>
            <a:r>
              <a:rPr lang="en-US" sz="1600" dirty="0"/>
              <a:t>Applicants categorized as “State servant” appear less frequently, indicating fewer government-employed individuals in the dataset compared to private sector workers.</a:t>
            </a:r>
          </a:p>
          <a:p>
            <a:endParaRPr lang="en-US" sz="1600" dirty="0"/>
          </a:p>
          <a:p>
            <a:r>
              <a:rPr lang="en-US" sz="1600" dirty="0"/>
              <a:t>Very Small Student Segment:</a:t>
            </a:r>
          </a:p>
          <a:p>
            <a:r>
              <a:rPr lang="en-US" sz="1600" dirty="0"/>
              <a:t>The “Student” category has the smallest count, suggesting that very few students are included in the credit dataset.</a:t>
            </a:r>
          </a:p>
          <a:p>
            <a:endParaRPr lang="en-US" sz="1600" dirty="0"/>
          </a:p>
          <a:p>
            <a:r>
              <a:rPr lang="en-US" sz="1600" dirty="0"/>
              <a:t>Impact on Analysis:</a:t>
            </a:r>
          </a:p>
          <a:p>
            <a:r>
              <a:rPr lang="en-US" sz="1600" dirty="0"/>
              <a:t>Since the dataset is heavily dominated by working professionals, credit risk models may primarily reflect patterns related to employed individuals rather than other income groups.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16AC54-D937-B6D5-04E2-925368AE7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205" y="1046480"/>
            <a:ext cx="4958777" cy="321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50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1581</Words>
  <Application>Microsoft Office PowerPoint</Application>
  <PresentationFormat>Widescreen</PresentationFormat>
  <Paragraphs>148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abhas tirpude</dc:creator>
  <cp:lastModifiedBy>abhas tirpude</cp:lastModifiedBy>
  <cp:revision>1</cp:revision>
  <dcterms:created xsi:type="dcterms:W3CDTF">2026-03-04T18:21:17Z</dcterms:created>
  <dcterms:modified xsi:type="dcterms:W3CDTF">2026-03-09T14:04:50Z</dcterms:modified>
</cp:coreProperties>
</file>